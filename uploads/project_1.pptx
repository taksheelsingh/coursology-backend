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58" r:id="rId11"/>
    <p:sldId id="25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1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17BAD-34DC-5387-E863-27A0091E0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B97B3-9690-58B4-D779-2B7713A3CC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5D57B-EFED-A522-D9BE-40DF31D2D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A290-5D7E-4E30-B708-6B90D5741742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71822-441F-48EB-3888-509B23330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9AB2A-384F-D970-2BBD-DA424EC30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C05D-9DC2-4B80-9545-DEBB18E9D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133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5642-D8FF-27A6-D547-8932E52C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DB1E1-11B8-6C32-A2CF-65CA06B27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004A3-3D3D-AF66-3228-559AA64DF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A290-5D7E-4E30-B708-6B90D5741742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6F154-E3A1-7EF8-4F5E-5933C557F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483AA-B743-DB30-19CB-CB00495E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C05D-9DC2-4B80-9545-DEBB18E9D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406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2AD48-D8A5-8DB4-3F4D-AECA1BEE7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4E159-2764-20A0-6700-C03743692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D4868-0370-89FB-892F-1C5ABC1B3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A290-5D7E-4E30-B708-6B90D5741742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D66C2-7AB7-40DA-D62E-9A00AAA5F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88FFE-CB9C-1BBD-A1F1-84048FF7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C05D-9DC2-4B80-9545-DEBB18E9D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2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A6D7-EACC-4D63-7346-2D30813E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9F601-0591-3DFC-91F2-F9DE4256FD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C3F7E-604C-E1AA-5685-D7225DEF9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254EC-AA5F-8044-4A94-B14C2F555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A290-5D7E-4E30-B708-6B90D5741742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ECDF0-CDF8-D4E4-B072-9E816E617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F4C6D-0094-9548-FD7B-FD35866F3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C05D-9DC2-4B80-9545-DEBB18E9D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26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679F-8762-0565-94B7-0D044A5F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52D24-AFF7-7AD4-2167-AD7513394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EDC0B-27DD-4241-4396-34AF51553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38DCD3-8ADE-06DD-1D94-07B6E22238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DECB9-2BE1-2851-AF2C-BC43750F5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DB393-9CC7-7724-1F7E-84ABDBC8C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A290-5D7E-4E30-B708-6B90D5741742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A6D471-FF7B-7B84-DEBA-A25F732B6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9AA49C-C425-315C-0129-62D3466A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C05D-9DC2-4B80-9545-DEBB18E9D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354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1CC32-81CB-9E9E-0141-E91C7BB9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514ED-EB7B-F2C6-49AE-CEDE0E0F5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A290-5D7E-4E30-B708-6B90D5741742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27543-793B-3DF7-CB46-47A20C741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38F76-E1DE-00CD-7339-5FE89307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C05D-9DC2-4B80-9545-DEBB18E9D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893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C9552A-9B64-0785-1719-64F0F7B43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A290-5D7E-4E30-B708-6B90D5741742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FD305-6F34-1552-239B-D9000B3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FA808-2468-7883-4350-8F95C06A9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C05D-9DC2-4B80-9545-DEBB18E9D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310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103F6-B583-4773-C0E8-A3570FB9D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2E78D-AFCB-02FE-B9D8-300FF8314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CA22E-5417-FDE2-82D6-801B8202F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57EA9-D878-B950-117B-889585B0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A290-5D7E-4E30-B708-6B90D5741742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F25C9-A086-C68D-05C2-9F7B39CA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E8719-37D6-1DCE-93B5-15F715565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C05D-9DC2-4B80-9545-DEBB18E9D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941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8C7C-FC62-C502-41F2-E5B66B390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269C1E-A1A2-8EF7-9DC2-0FA4E6069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48D65-8D2B-2B9C-AAFC-7D6585851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86D66-6A8A-B9B2-5E3C-A73598361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A290-5D7E-4E30-B708-6B90D5741742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27319-23DF-3EF2-9499-5123FF44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61732-960B-4E09-E4DC-ED1F3B28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C05D-9DC2-4B80-9545-DEBB18E9D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33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85B63-F834-9E02-6ABD-43DE8B62D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99BCC-04A1-08A5-4B14-3B9385325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55EA6-35AF-433D-F6AC-4490A2D46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A290-5D7E-4E30-B708-6B90D5741742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A904F-96DD-B97B-C73D-784D728D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6B386-5BF5-F8E4-4438-77613F40E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C05D-9DC2-4B80-9545-DEBB18E9D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148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508B0-6291-B1A9-8CAD-F92C7FA46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48832-1F94-8A24-6314-FD89957FC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DC033-0B0C-54F8-42AF-867A267B5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2A290-5D7E-4E30-B708-6B90D5741742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A5D8E-AB88-3F00-5DBC-0E0A8020E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91713-67EF-918F-CC19-78686EC4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9C05D-9DC2-4B80-9545-DEBB18E9D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016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AA80A3-A9AA-A952-2B51-82829EE54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11C09-5055-FAF8-06DB-E2ABC7480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CF6C0-D071-DED0-60A9-B9C7277FE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2A290-5D7E-4E30-B708-6B90D5741742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57A0D-C22A-5B02-08D9-1B2CC28A97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AE6CE-F98D-7D8B-A812-5A0461BF2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9C05D-9DC2-4B80-9545-DEBB18E9D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75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4F71F-FE73-B723-085A-2212FF0445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Analysis of Advertising Expenditures and Sales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1782E-B0FB-6297-C4B1-BAC9B00C4B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Taksheel Rawat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607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91FEC-C002-B280-39AC-DDE143BF9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3257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FF98A-BC4B-9867-7B99-95EEF5439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688"/>
            <a:ext cx="10515600" cy="4502275"/>
          </a:xfrm>
        </p:spPr>
        <p:txBody>
          <a:bodyPr/>
          <a:lstStyle/>
          <a:p>
            <a:pPr lvl="1"/>
            <a:r>
              <a:rPr lang="en-US" b="0" i="0" dirty="0">
                <a:effectLst/>
                <a:latin typeface="+mj-lt"/>
              </a:rPr>
              <a:t>The dataset advertising_sales_data.xlsx includes information on advertising expenditures across various channels (TV, Radio, Newspaper) and corresponding sales data.</a:t>
            </a:r>
          </a:p>
          <a:p>
            <a:pPr lvl="1"/>
            <a:r>
              <a:rPr lang="en-US" b="0" i="0" dirty="0">
                <a:effectLst/>
                <a:latin typeface="+mj-lt"/>
              </a:rPr>
              <a:t>Objective: Analyze the impact of advertising on product sales and derive insights for optimizing marketing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2256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4781-36F2-0D91-237A-5E50B811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F1CC0-12EA-89EF-ABBB-1F0725EF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i="0" dirty="0">
                <a:effectLst/>
                <a:latin typeface="+mj-lt"/>
              </a:rPr>
              <a:t>Summary</a:t>
            </a:r>
            <a:r>
              <a:rPr lang="en-US" sz="2400" b="0" i="0" dirty="0">
                <a:effectLst/>
                <a:latin typeface="+mj-lt"/>
              </a:rPr>
              <a:t>:</a:t>
            </a:r>
          </a:p>
          <a:p>
            <a:pPr marL="742950" lvl="1" indent="-285750"/>
            <a:r>
              <a:rPr lang="en-US" b="0" i="0" dirty="0">
                <a:effectLst/>
                <a:latin typeface="+mj-lt"/>
              </a:rPr>
              <a:t>Total records: 200</a:t>
            </a:r>
          </a:p>
          <a:p>
            <a:pPr marL="742950" lvl="1" indent="-285750"/>
            <a:r>
              <a:rPr lang="en-US" b="0" i="0" dirty="0">
                <a:effectLst/>
                <a:latin typeface="+mj-lt"/>
              </a:rPr>
              <a:t>Columns: Campaign, TV, Radio, Newspaper, Sales</a:t>
            </a:r>
          </a:p>
          <a:p>
            <a:pPr marL="0" indent="0">
              <a:buNone/>
            </a:pPr>
            <a:r>
              <a:rPr lang="en-US" sz="2400" b="1" i="0" dirty="0">
                <a:effectLst/>
                <a:latin typeface="+mj-lt"/>
              </a:rPr>
              <a:t>Data Types</a:t>
            </a:r>
            <a:r>
              <a:rPr lang="en-US" sz="2400" b="0" i="0" dirty="0">
                <a:effectLst/>
                <a:latin typeface="+mj-lt"/>
              </a:rPr>
              <a:t>:</a:t>
            </a:r>
          </a:p>
          <a:p>
            <a:pPr marL="742950" lvl="1" indent="-285750"/>
            <a:r>
              <a:rPr lang="en-US" b="0" i="0" dirty="0">
                <a:effectLst/>
                <a:latin typeface="+mj-lt"/>
              </a:rPr>
              <a:t>Campaign: Object</a:t>
            </a:r>
          </a:p>
          <a:p>
            <a:pPr marL="742950" lvl="1" indent="-285750"/>
            <a:r>
              <a:rPr lang="en-US" b="0" i="0" dirty="0">
                <a:effectLst/>
                <a:latin typeface="+mj-lt"/>
              </a:rPr>
              <a:t>TV, Radio, Newspaper, Sales: Float64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1408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28FA-7470-EA3A-C3C7-0FD662B3B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DAC20-A624-B764-1AF6-BA95663A8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i="0" dirty="0">
                <a:effectLst/>
                <a:latin typeface="+mj-lt"/>
              </a:rPr>
              <a:t>Advertising Expenditures</a:t>
            </a:r>
            <a:r>
              <a:rPr lang="en-US" sz="2400" b="0" i="0" dirty="0">
                <a:effectLst/>
                <a:latin typeface="+mj-lt"/>
              </a:rPr>
              <a:t>:</a:t>
            </a:r>
          </a:p>
          <a:p>
            <a:pPr marL="742950" lvl="1" indent="-285750"/>
            <a:r>
              <a:rPr lang="en-US" b="0" i="0" dirty="0">
                <a:effectLst/>
                <a:latin typeface="+mj-lt"/>
              </a:rPr>
              <a:t>TV: Mean spending of $147.04 with a range from $0.7 to $296.4.</a:t>
            </a:r>
          </a:p>
          <a:p>
            <a:pPr marL="742950" lvl="1" indent="-285750"/>
            <a:r>
              <a:rPr lang="en-US" b="0" i="0" dirty="0">
                <a:effectLst/>
                <a:latin typeface="+mj-lt"/>
              </a:rPr>
              <a:t>Radio: Average spending of $23.26 with a distribution from $0 to $49.6.</a:t>
            </a:r>
          </a:p>
          <a:p>
            <a:pPr marL="742950" lvl="1" indent="-285750"/>
            <a:r>
              <a:rPr lang="en-US" b="0" i="0" dirty="0">
                <a:effectLst/>
                <a:latin typeface="+mj-lt"/>
              </a:rPr>
              <a:t>Newspaper: Average expense of $30.55 with a range from $0.3 to $114.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657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673E-41A9-E0A8-B93C-DF44F94D5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A5CEB-4EA5-26BE-0FF0-70C6ED229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i="0" dirty="0">
                <a:effectLst/>
                <a:latin typeface="+mj-lt"/>
              </a:rPr>
              <a:t>Correlation Matrix</a:t>
            </a:r>
            <a:r>
              <a:rPr lang="en-IN" sz="2400" b="0" i="0" dirty="0">
                <a:effectLst/>
                <a:latin typeface="+mj-lt"/>
              </a:rPr>
              <a:t>:</a:t>
            </a:r>
          </a:p>
          <a:p>
            <a:pPr marL="742950" lvl="1" indent="-285750"/>
            <a:r>
              <a:rPr lang="en-IN" b="0" i="0" dirty="0">
                <a:effectLst/>
                <a:latin typeface="+mj-lt"/>
              </a:rPr>
              <a:t>TV and Sales: Correlation coefficient = X (interpretation)</a:t>
            </a:r>
          </a:p>
          <a:p>
            <a:pPr marL="742950" lvl="1" indent="-285750"/>
            <a:r>
              <a:rPr lang="en-IN" b="0" i="0" dirty="0">
                <a:effectLst/>
                <a:latin typeface="+mj-lt"/>
              </a:rPr>
              <a:t>Radio and Sales: Correlation coefficient = Y (interpretation)</a:t>
            </a:r>
          </a:p>
          <a:p>
            <a:pPr marL="742950" lvl="1" indent="-285750"/>
            <a:r>
              <a:rPr lang="en-IN" b="0" i="0" dirty="0">
                <a:effectLst/>
                <a:latin typeface="+mj-lt"/>
              </a:rPr>
              <a:t>Newspaper and Sales: Correlation coefficient = Z (interpretation)</a:t>
            </a:r>
          </a:p>
          <a:p>
            <a:pPr marL="457200" lvl="1" indent="0">
              <a:buNone/>
            </a:pPr>
            <a:endParaRPr lang="en-IN" b="0" i="0" dirty="0">
              <a:effectLst/>
              <a:latin typeface="+mj-lt"/>
            </a:endParaRPr>
          </a:p>
          <a:p>
            <a:pPr marL="0" indent="0">
              <a:buNone/>
            </a:pPr>
            <a:r>
              <a:rPr lang="en-IN" sz="2400" b="1" i="0" dirty="0">
                <a:effectLst/>
                <a:latin typeface="+mj-lt"/>
              </a:rPr>
              <a:t>Visual Representation</a:t>
            </a:r>
            <a:r>
              <a:rPr lang="en-IN" sz="2400" b="0" i="0" dirty="0">
                <a:effectLst/>
                <a:latin typeface="+mj-lt"/>
              </a:rPr>
              <a:t>: Heatmap showing correlations.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1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E1DB5-1540-1A92-F673-94A3A8AD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Advertising Impact on 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05B12-5BC3-74A7-4654-A0B4B2FBA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i="0" dirty="0">
                <a:effectLst/>
                <a:latin typeface="+mj-lt"/>
              </a:rPr>
              <a:t>Impact of Advertising Medium</a:t>
            </a:r>
            <a:r>
              <a:rPr lang="en-US" sz="2400" b="0" i="0" dirty="0">
                <a:effectLst/>
                <a:latin typeface="+mj-lt"/>
              </a:rPr>
              <a:t>:</a:t>
            </a:r>
          </a:p>
          <a:p>
            <a:pPr marL="742950" lvl="1" indent="-285750"/>
            <a:r>
              <a:rPr lang="en-US" b="0" i="0" dirty="0">
                <a:effectLst/>
                <a:latin typeface="+mj-lt"/>
              </a:rPr>
              <a:t>TV has the highest impact on sales, with an X% increase for every $1 spent.</a:t>
            </a:r>
          </a:p>
          <a:p>
            <a:pPr marL="742950" lvl="1" indent="-285750"/>
            <a:r>
              <a:rPr lang="en-US" b="0" i="0" dirty="0">
                <a:effectLst/>
                <a:latin typeface="+mj-lt"/>
              </a:rPr>
              <a:t>Radio has a moderate impact, showing a Y% increase for each $1 expenditure.</a:t>
            </a:r>
          </a:p>
          <a:p>
            <a:pPr marL="742950" lvl="1" indent="-285750"/>
            <a:r>
              <a:rPr lang="en-US" b="0" i="0" dirty="0">
                <a:effectLst/>
                <a:latin typeface="+mj-lt"/>
              </a:rPr>
              <a:t>Newspaper advertising has the least effect on sales, with a Z% increase for every $1 spent.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7955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FC0F-B0EE-44F0-E27B-59C1F0D84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C311D-0107-9E5C-E03F-5B1B412CC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b="1" i="0" dirty="0">
                <a:effectLst/>
                <a:latin typeface="+mj-lt"/>
              </a:rPr>
              <a:t>Model Overview</a:t>
            </a:r>
            <a:r>
              <a:rPr lang="en-IN" sz="2400" b="0" i="0" dirty="0">
                <a:effectLst/>
                <a:latin typeface="+mj-lt"/>
              </a:rPr>
              <a:t>:</a:t>
            </a:r>
          </a:p>
          <a:p>
            <a:pPr marL="742950" lvl="1" indent="-285750"/>
            <a:r>
              <a:rPr lang="en-IN" b="0" i="0" dirty="0">
                <a:effectLst/>
                <a:latin typeface="+mj-lt"/>
              </a:rPr>
              <a:t>Formula: Sales = </a:t>
            </a:r>
            <a:r>
              <a:rPr lang="el-GR" b="0" i="0" dirty="0">
                <a:effectLst/>
                <a:latin typeface="+mj-lt"/>
              </a:rPr>
              <a:t>α + β1(</a:t>
            </a:r>
            <a:r>
              <a:rPr lang="en-IN" b="0" i="0" dirty="0">
                <a:effectLst/>
                <a:latin typeface="+mj-lt"/>
              </a:rPr>
              <a:t>TV) + </a:t>
            </a:r>
            <a:r>
              <a:rPr lang="el-GR" b="0" i="0" dirty="0">
                <a:effectLst/>
                <a:latin typeface="+mj-lt"/>
              </a:rPr>
              <a:t>β2(</a:t>
            </a:r>
            <a:r>
              <a:rPr lang="en-IN" b="0" i="0" dirty="0">
                <a:effectLst/>
                <a:latin typeface="+mj-lt"/>
              </a:rPr>
              <a:t>Radio) + </a:t>
            </a:r>
            <a:r>
              <a:rPr lang="el-GR" b="0" i="0" dirty="0">
                <a:effectLst/>
                <a:latin typeface="+mj-lt"/>
              </a:rPr>
              <a:t>β3(</a:t>
            </a:r>
            <a:r>
              <a:rPr lang="en-IN" b="0" i="0" dirty="0">
                <a:effectLst/>
                <a:latin typeface="+mj-lt"/>
              </a:rPr>
              <a:t>Newspaper) + </a:t>
            </a:r>
            <a:r>
              <a:rPr lang="el-GR" b="0" i="0" dirty="0">
                <a:effectLst/>
                <a:latin typeface="+mj-lt"/>
              </a:rPr>
              <a:t>ε</a:t>
            </a:r>
          </a:p>
          <a:p>
            <a:pPr marL="742950" lvl="1" indent="-285750"/>
            <a:r>
              <a:rPr lang="en-IN" b="0" i="0" dirty="0">
                <a:effectLst/>
                <a:latin typeface="+mj-lt"/>
              </a:rPr>
              <a:t>Coefficients: </a:t>
            </a:r>
            <a:r>
              <a:rPr lang="el-GR" b="0" i="0" dirty="0">
                <a:effectLst/>
                <a:latin typeface="+mj-lt"/>
              </a:rPr>
              <a:t>β1 = </a:t>
            </a:r>
            <a:r>
              <a:rPr lang="en-IN" b="0" i="0" dirty="0">
                <a:effectLst/>
                <a:latin typeface="+mj-lt"/>
              </a:rPr>
              <a:t>X, </a:t>
            </a:r>
            <a:r>
              <a:rPr lang="el-GR" b="0" i="0" dirty="0">
                <a:effectLst/>
                <a:latin typeface="+mj-lt"/>
              </a:rPr>
              <a:t>β2 = </a:t>
            </a:r>
            <a:r>
              <a:rPr lang="en-IN" b="0" i="0" dirty="0">
                <a:effectLst/>
                <a:latin typeface="+mj-lt"/>
              </a:rPr>
              <a:t>Y, </a:t>
            </a:r>
            <a:r>
              <a:rPr lang="el-GR" b="0" i="0" dirty="0">
                <a:effectLst/>
                <a:latin typeface="+mj-lt"/>
              </a:rPr>
              <a:t>β3 = </a:t>
            </a:r>
            <a:r>
              <a:rPr lang="en-IN" b="0" i="0" dirty="0">
                <a:effectLst/>
                <a:latin typeface="+mj-lt"/>
              </a:rPr>
              <a:t>Z</a:t>
            </a:r>
          </a:p>
          <a:p>
            <a:pPr marL="742950" lvl="1" indent="-285750"/>
            <a:r>
              <a:rPr lang="en-IN" b="0" i="0" dirty="0">
                <a:effectLst/>
                <a:latin typeface="+mj-lt"/>
              </a:rPr>
              <a:t>Interpretation: Each coefficient represents the change in sales for a unit increase in advertising spending on that medium.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374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4EEE-61F3-E4F9-8ABF-8F177D3B7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38696-B76D-6C84-FA88-42C97D319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i="0" dirty="0">
                <a:effectLst/>
                <a:latin typeface="+mj-lt"/>
              </a:rPr>
              <a:t>Evaluation Metrics</a:t>
            </a:r>
            <a:r>
              <a:rPr lang="en-US" sz="2400" b="0" i="0" dirty="0">
                <a:effectLst/>
                <a:latin typeface="+mj-lt"/>
              </a:rPr>
              <a:t>:</a:t>
            </a:r>
          </a:p>
          <a:p>
            <a:pPr marL="742950" lvl="1" indent="-285750"/>
            <a:r>
              <a:rPr lang="en-US" b="0" i="0" dirty="0">
                <a:effectLst/>
                <a:latin typeface="+mj-lt"/>
              </a:rPr>
              <a:t>R-squared value: X% (interpretation)</a:t>
            </a:r>
          </a:p>
          <a:p>
            <a:pPr marL="742950" lvl="1" indent="-285750"/>
            <a:r>
              <a:rPr lang="en-US" b="0" i="0" dirty="0">
                <a:effectLst/>
                <a:latin typeface="+mj-lt"/>
              </a:rPr>
              <a:t>RMSE (Root Mean Squared Error): Y (interpretation)</a:t>
            </a:r>
          </a:p>
          <a:p>
            <a:pPr marL="0" indent="0">
              <a:buNone/>
            </a:pPr>
            <a:r>
              <a:rPr lang="en-US" sz="2400" b="1" i="0" dirty="0">
                <a:effectLst/>
                <a:latin typeface="+mj-lt"/>
              </a:rPr>
              <a:t>Visual Representation</a:t>
            </a:r>
            <a:r>
              <a:rPr lang="en-US" sz="2400" b="0" i="0" dirty="0">
                <a:effectLst/>
                <a:latin typeface="+mj-lt"/>
              </a:rPr>
              <a:t>: Table or chart showing evaluation metrics.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6884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4761-00DE-0C2C-BBA7-E9D6F9AAD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210"/>
          </a:xfrm>
        </p:spPr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46921-2D68-7643-846E-7D3718763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9336"/>
            <a:ext cx="10515600" cy="5077627"/>
          </a:xfrm>
        </p:spPr>
        <p:txBody>
          <a:bodyPr>
            <a:normAutofit fontScale="32500" lnSpcReduction="20000"/>
          </a:bodyPr>
          <a:lstStyle/>
          <a:p>
            <a:pPr>
              <a:buFont typeface="+mj-lt"/>
              <a:buAutoNum type="arabicPeriod"/>
            </a:pPr>
            <a:r>
              <a:rPr lang="en-US" sz="7400" b="1" i="0" dirty="0">
                <a:effectLst/>
                <a:latin typeface="+mj-lt"/>
              </a:rPr>
              <a:t> Impact of Advertising Medium</a:t>
            </a:r>
            <a:r>
              <a:rPr lang="en-US" sz="7400" b="0" i="0" dirty="0">
                <a:effectLst/>
                <a:latin typeface="+mj-lt"/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7400" b="0" i="0" dirty="0">
                <a:effectLst/>
                <a:latin typeface="+mj-lt"/>
              </a:rPr>
              <a:t>TV advertising demonstrates the strongest influence on sales, showing a significant increase for each dollar spent compared to Radio and Newspaper.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7400" b="0" i="0" dirty="0">
                <a:effectLst/>
                <a:latin typeface="+mj-lt"/>
              </a:rPr>
              <a:t>Radio advertising follows with a moderate impact, contributing positively to sales but to a lesser extent than TV.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7400" b="0" i="0" dirty="0">
                <a:effectLst/>
                <a:latin typeface="+mj-lt"/>
              </a:rPr>
              <a:t>Newspaper advertising, while still contributing to sales, has the least impact among the three mediums studied.</a:t>
            </a:r>
          </a:p>
          <a:p>
            <a:pPr>
              <a:buFont typeface="+mj-lt"/>
              <a:buAutoNum type="arabicPeriod"/>
            </a:pPr>
            <a:r>
              <a:rPr lang="en-US" sz="7400" b="1" i="0" dirty="0">
                <a:effectLst/>
                <a:latin typeface="+mj-lt"/>
              </a:rPr>
              <a:t> Recommendations</a:t>
            </a:r>
            <a:r>
              <a:rPr lang="en-US" sz="7400" b="0" i="0" dirty="0">
                <a:effectLst/>
                <a:latin typeface="+mj-lt"/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7400" b="1" i="0" dirty="0">
                <a:effectLst/>
                <a:latin typeface="+mj-lt"/>
              </a:rPr>
              <a:t>Optimize TV Campaigns</a:t>
            </a:r>
            <a:r>
              <a:rPr lang="en-US" sz="7400" b="0" i="0" dirty="0">
                <a:effectLst/>
                <a:latin typeface="+mj-lt"/>
              </a:rPr>
              <a:t>: Allocate more budget towards TV advertising due to its highest impact on sales.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7400" b="1" i="0" dirty="0">
                <a:effectLst/>
                <a:latin typeface="+mj-lt"/>
              </a:rPr>
              <a:t>Strategize Radio Advertising</a:t>
            </a:r>
            <a:r>
              <a:rPr lang="en-US" sz="7400" b="0" i="0" dirty="0">
                <a:effectLst/>
                <a:latin typeface="+mj-lt"/>
              </a:rPr>
              <a:t>: Maintain or adjust radio advertising budgets to sustain moderate sales impact.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7400" b="1" i="0" dirty="0">
                <a:effectLst/>
                <a:latin typeface="+mj-lt"/>
              </a:rPr>
              <a:t>Evaluate Newspaper Effectiveness</a:t>
            </a:r>
            <a:r>
              <a:rPr lang="en-US" sz="7400" b="0" i="0" dirty="0">
                <a:effectLst/>
                <a:latin typeface="+mj-lt"/>
              </a:rPr>
              <a:t>: Consider reallocating resources from newspaper advertising to more impactful channels unless specific demographic targeting is crucial.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405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67DA1-760D-FB93-3FEA-6353B652D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2839"/>
          </a:xfrm>
        </p:spPr>
        <p:txBody>
          <a:bodyPr>
            <a:normAutofit fontScale="90000"/>
          </a:bodyPr>
          <a:lstStyle/>
          <a:p>
            <a:r>
              <a:rPr lang="en-IN" dirty="0"/>
              <a:t>Future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D21F3-097E-2DD2-579A-DC5171C80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964"/>
            <a:ext cx="10515600" cy="51289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Seasonal Analysis</a:t>
            </a:r>
            <a:r>
              <a:rPr lang="en-US" dirty="0">
                <a:latin typeface="+mj-lt"/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Explore seasonal variations in advertising effectiveness and sales.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Analyze how different seasons impact consumer behavior and advertising ROI.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+mj-lt"/>
              </a:rPr>
              <a:t> Market Segmentation</a:t>
            </a:r>
            <a:r>
              <a:rPr lang="en-US" dirty="0">
                <a:latin typeface="+mj-lt"/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Investigate the effectiveness of advertising strategies across demographic segments (age, gender, income).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Tailor campaigns to resonate better with specific target audiences.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+mj-lt"/>
              </a:rPr>
              <a:t> Channel Optimization</a:t>
            </a:r>
            <a:r>
              <a:rPr lang="en-US" dirty="0">
                <a:latin typeface="+mj-lt"/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Evaluate the optimal allocation of advertising budgets across TV, Radio, and Newspaper channels.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Identify opportunities for reallocating resources to maximize ROI.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+mj-lt"/>
              </a:rPr>
              <a:t> Competitive Benchmarking</a:t>
            </a:r>
            <a:r>
              <a:rPr lang="en-US" dirty="0">
                <a:latin typeface="+mj-lt"/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Compare advertising performance with competitors in the industry.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Benchmark against industry standards and best practices for advertising effectiveness.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9362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8DB5-899E-7FCF-7543-B74CCA6AC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291"/>
          </a:xfrm>
        </p:spPr>
        <p:txBody>
          <a:bodyPr>
            <a:normAutofit fontScale="90000"/>
          </a:bodyPr>
          <a:lstStyle/>
          <a:p>
            <a:r>
              <a:rPr lang="en-IN" dirty="0"/>
              <a:t>Predictive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4051C-FFD2-FFA8-F331-EF196A460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416"/>
            <a:ext cx="10515600" cy="514954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Predictive Modeling</a:t>
            </a:r>
            <a:r>
              <a:rPr lang="en-US" dirty="0">
                <a:latin typeface="+mj-lt"/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Utilize predictive analytics to forecast future sales based on varying levels of advertising expenditures.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Provide insights into potential sales outcomes under different budget scenarios.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+mj-lt"/>
              </a:rPr>
              <a:t> Scenario Planning</a:t>
            </a:r>
            <a:r>
              <a:rPr lang="en-US" dirty="0">
                <a:latin typeface="+mj-lt"/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Conduct scenario analysis to simulate the impact of different advertising budgets on sales.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Optimize budget allocation strategies to achieve desired sales targets.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+mj-lt"/>
              </a:rPr>
              <a:t> Risk Assessment</a:t>
            </a:r>
            <a:r>
              <a:rPr lang="en-US" dirty="0">
                <a:latin typeface="+mj-lt"/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Assess risks associated with budget decisions using predictive models.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Mitigate risks by understanding potential outcomes and adjusting strategies accordingly.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+mj-lt"/>
              </a:rPr>
              <a:t> Continuous Improvement</a:t>
            </a:r>
            <a:r>
              <a:rPr lang="en-US" dirty="0">
                <a:latin typeface="+mj-lt"/>
              </a:rPr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Continuously refine predictive models with new data and insights.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+mj-lt"/>
              </a:rPr>
              <a:t>Implement feedback loops to adapt strategies based on real-time market dynamics and performance metrics.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652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704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Analysis of Advertising Expenditures and Sales</vt:lpstr>
      <vt:lpstr>Introduction</vt:lpstr>
      <vt:lpstr>Dataset Overview</vt:lpstr>
      <vt:lpstr>Exploratory Data Analysis (EDA)</vt:lpstr>
      <vt:lpstr>Correlation Analysis</vt:lpstr>
      <vt:lpstr>Advertising Impact on Sales</vt:lpstr>
      <vt:lpstr>Linear Regression Model</vt:lpstr>
      <vt:lpstr>Model Performance</vt:lpstr>
      <vt:lpstr>Conclusion</vt:lpstr>
      <vt:lpstr>Future Analysis</vt:lpstr>
      <vt:lpstr>Predictive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Taksheel Rawat</dc:creator>
  <cp:lastModifiedBy>Taksheel Rawat</cp:lastModifiedBy>
  <cp:revision>1</cp:revision>
  <dcterms:created xsi:type="dcterms:W3CDTF">2025-02-02T12:12:46Z</dcterms:created>
  <dcterms:modified xsi:type="dcterms:W3CDTF">2025-02-02T13:02:18Z</dcterms:modified>
</cp:coreProperties>
</file>