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6EDCE-220C-6392-E7EF-4DC0097947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B463-D2C5-8B47-468A-885A3932C8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88C37-537E-19EF-1C50-C4E82B3BB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6412B-8C0A-4FCB-AB6A-E77742BEC27A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108EE-9A52-324D-1CC8-389562A9F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A017F-5639-2A2C-3810-963F00376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382EA-7598-42E6-A394-EC79CD234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312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585B5-EFBF-2624-11F1-3540433EA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21699-FCE1-EFC9-B240-0658505CA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8DE04-30D7-AB59-FCD3-9F455A5F5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6412B-8C0A-4FCB-AB6A-E77742BEC27A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11B29-AAC7-AA4A-90E3-02DC255AD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3CC95-1BF5-654D-E4A0-B6C695395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382EA-7598-42E6-A394-EC79CD234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57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E83B-3B8C-E19F-06E7-3B68C5415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61408-9328-8C1E-C8B1-5547AB27F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4E5D5-ABE8-8AD6-43D6-CA944EBF7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6412B-8C0A-4FCB-AB6A-E77742BEC27A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CE21F-7F8B-EB0D-1EA5-4D0F34781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4080C-690A-4E04-1852-6C12C1314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382EA-7598-42E6-A394-EC79CD234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991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D24E6-9941-BD14-8F8E-252C05874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094AA-4FC1-F161-CAFA-8B6ABE87AE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8B254-41C6-C81D-65B2-79A43DDC9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08D3D-DB27-3E9F-48DE-8276E15CC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6412B-8C0A-4FCB-AB6A-E77742BEC27A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28C73-BE56-3F5D-7A7E-96231FB9E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086D3-DB2B-4FA0-F155-50013CD9F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382EA-7598-42E6-A394-EC79CD234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77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99C4B-C853-4472-BA55-168B74B6E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DF1E1-922A-E36F-4E53-9F737248B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D47C3-6425-AA49-F4AD-CC5ADE043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CDF225-6E40-87C4-A715-7E72F7565E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86E9E0-91F9-8AFB-70D7-D63245FD5A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522897-C642-A82A-6AE6-1ED642700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6412B-8C0A-4FCB-AB6A-E77742BEC27A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5B7246-BE7C-A818-1694-D143E572A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794D81-CDE5-8AFE-FEFA-FAC00FB56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382EA-7598-42E6-A394-EC79CD234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135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5C2D-B622-C404-DF7B-2C67628A5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FC1003-094A-54AE-C6E6-9EC06F391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6412B-8C0A-4FCB-AB6A-E77742BEC27A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83FDA4-7862-BDC8-191D-524C6E636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263DB-B366-BD4E-6D4D-C73CEF98A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382EA-7598-42E6-A394-EC79CD234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976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B788A8-3D76-72FE-D80B-A4ECF10CC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6412B-8C0A-4FCB-AB6A-E77742BEC27A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9F9D97-5248-51E9-EE94-584791B17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24D30-9787-864D-06F1-513B9C433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382EA-7598-42E6-A394-EC79CD234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23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49172-DCD5-0758-43A6-67307DD78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E7F98-4911-5AA8-80CF-B04BD7516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8EEE2C-4A86-E069-F86D-14AD8327C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7609E-6576-2F99-8F0D-A6CFD085A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6412B-8C0A-4FCB-AB6A-E77742BEC27A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C3CBD-3ADC-4C9F-0353-CDC8BB0A3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63CD1-BCA7-472A-8771-B3D8132D6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382EA-7598-42E6-A394-EC79CD234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314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8F8C4-41AD-8F68-80E6-CB11CA97B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067931-BD1C-3F1E-BD80-4A4AE47FBA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D221BB-EA14-F371-F1AB-ABFFC24079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8017F-6F6C-CE9A-B208-379DAD5B1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6412B-8C0A-4FCB-AB6A-E77742BEC27A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B56EC-29C8-1A95-510B-3DC6690EF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36F462-D52A-8784-6F31-4B20B05C6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382EA-7598-42E6-A394-EC79CD234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756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6DC1E-38F0-D6FC-BBB6-820D339E7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317DF6-9257-6693-AA2D-0F29CC83C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516C9-B2C8-4373-FE1C-AE2DC340E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6412B-8C0A-4FCB-AB6A-E77742BEC27A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2AC7F-4844-3433-E4E5-E73CF2483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21D4D-D942-9EB6-BEB6-AB9030056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382EA-7598-42E6-A394-EC79CD234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07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CF4C40-60CD-EC40-BDCC-C1015BF15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415374-528E-35EB-492E-CC8C5E729D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FF31E-8EDD-D25C-DD9A-8F37F556F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6412B-8C0A-4FCB-AB6A-E77742BEC27A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C1D34-BDC0-D477-175E-46FEF1A09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F0F78-5923-E791-A363-9AFFC965E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382EA-7598-42E6-A394-EC79CD234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215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3699D7-AEF9-7F62-36FA-BCF52521F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7F068-24BD-11C5-EEA0-9779B2C9E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69E84-888F-BF6A-6F72-A2C6A117AD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6412B-8C0A-4FCB-AB6A-E77742BEC27A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612E5-E379-251A-F3DB-22F10CEA5D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9FFF5-39F3-F207-FCEA-B5DD4DBF22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382EA-7598-42E6-A394-EC79CD234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890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6A6BC-B82C-F60C-4279-32F9B9554A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Facebook Marketplace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902E3E-15EC-FFF9-BA3F-1E5EC9D28B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Taksheel Rawat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2234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A16D6-924D-0449-4CE7-5B761D357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28F95-1A23-A406-6AFE-1284BC4F5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i="0" dirty="0">
                <a:effectLst/>
                <a:latin typeface="+mj-lt"/>
              </a:rPr>
              <a:t>Structure:</a:t>
            </a:r>
            <a:r>
              <a:rPr lang="en-US" sz="2400" b="0" i="0" dirty="0">
                <a:effectLst/>
                <a:latin typeface="+mj-lt"/>
              </a:rPr>
              <a:t> Tabular format with 7050 instances and 14 attributes.</a:t>
            </a:r>
          </a:p>
          <a:p>
            <a:r>
              <a:rPr lang="en-US" sz="2400" b="1" i="0" dirty="0">
                <a:effectLst/>
                <a:latin typeface="+mj-lt"/>
              </a:rPr>
              <a:t>Attributes:</a:t>
            </a:r>
            <a:r>
              <a:rPr lang="en-US" sz="2400" b="0" i="0" dirty="0">
                <a:effectLst/>
                <a:latin typeface="+mj-lt"/>
              </a:rPr>
              <a:t> Includes </a:t>
            </a:r>
            <a:r>
              <a:rPr lang="en-US" sz="2400" b="0" i="0" dirty="0" err="1">
                <a:effectLst/>
                <a:latin typeface="+mj-lt"/>
              </a:rPr>
              <a:t>status_id</a:t>
            </a:r>
            <a:r>
              <a:rPr lang="en-US" sz="2400" b="0" i="0" dirty="0">
                <a:effectLst/>
                <a:latin typeface="+mj-lt"/>
              </a:rPr>
              <a:t>, </a:t>
            </a:r>
            <a:r>
              <a:rPr lang="en-US" sz="2400" b="0" i="0" dirty="0" err="1">
                <a:effectLst/>
                <a:latin typeface="+mj-lt"/>
              </a:rPr>
              <a:t>status_published</a:t>
            </a:r>
            <a:r>
              <a:rPr lang="en-US" sz="2400" b="0" i="0" dirty="0">
                <a:effectLst/>
                <a:latin typeface="+mj-lt"/>
              </a:rPr>
              <a:t>, </a:t>
            </a:r>
            <a:r>
              <a:rPr lang="en-US" sz="2400" b="0" i="0" dirty="0" err="1">
                <a:effectLst/>
                <a:latin typeface="+mj-lt"/>
              </a:rPr>
              <a:t>status_type</a:t>
            </a:r>
            <a:r>
              <a:rPr lang="en-US" sz="2400" b="0" i="0" dirty="0">
                <a:effectLst/>
                <a:latin typeface="+mj-lt"/>
              </a:rPr>
              <a:t>, </a:t>
            </a:r>
            <a:r>
              <a:rPr lang="en-US" sz="2400" b="0" i="0" dirty="0" err="1">
                <a:effectLst/>
                <a:latin typeface="+mj-lt"/>
              </a:rPr>
              <a:t>num_reactions</a:t>
            </a:r>
            <a:r>
              <a:rPr lang="en-US" sz="2400" b="0" i="0" dirty="0">
                <a:effectLst/>
                <a:latin typeface="+mj-lt"/>
              </a:rPr>
              <a:t>, </a:t>
            </a:r>
            <a:r>
              <a:rPr lang="en-US" sz="2400" b="0" i="0" dirty="0" err="1">
                <a:effectLst/>
                <a:latin typeface="+mj-lt"/>
              </a:rPr>
              <a:t>num_comments</a:t>
            </a:r>
            <a:r>
              <a:rPr lang="en-US" sz="2400" b="0" i="0" dirty="0">
                <a:effectLst/>
                <a:latin typeface="+mj-lt"/>
              </a:rPr>
              <a:t>, </a:t>
            </a:r>
            <a:r>
              <a:rPr lang="en-US" sz="2400" b="0" i="0" dirty="0" err="1">
                <a:effectLst/>
                <a:latin typeface="+mj-lt"/>
              </a:rPr>
              <a:t>num_shares</a:t>
            </a:r>
            <a:r>
              <a:rPr lang="en-US" sz="2400" b="0" i="0" dirty="0">
                <a:effectLst/>
                <a:latin typeface="+mj-lt"/>
              </a:rPr>
              <a:t>.</a:t>
            </a:r>
          </a:p>
          <a:p>
            <a:r>
              <a:rPr lang="en-US" sz="2400" b="1" i="0" dirty="0">
                <a:effectLst/>
                <a:latin typeface="+mj-lt"/>
              </a:rPr>
              <a:t>Preprocessing Needs:</a:t>
            </a:r>
            <a:r>
              <a:rPr lang="en-US" sz="2400" b="0" i="0" dirty="0">
                <a:effectLst/>
                <a:latin typeface="+mj-lt"/>
              </a:rPr>
              <a:t> Addressing missing values and possibly outliers.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7879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1DFEC-BDBA-4C8F-DC48-D2D4CA05D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F6A32-E1D6-541B-6590-38B109CF7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i="0" dirty="0">
                <a:effectLst/>
                <a:latin typeface="+mj-lt"/>
              </a:rPr>
              <a:t>Question:</a:t>
            </a:r>
            <a:r>
              <a:rPr lang="en-US" sz="2400" b="0" i="0" dirty="0">
                <a:effectLst/>
                <a:latin typeface="+mj-lt"/>
              </a:rPr>
              <a:t> How does </a:t>
            </a:r>
            <a:r>
              <a:rPr lang="en-US" sz="2400" b="0" i="0" dirty="0" err="1">
                <a:effectLst/>
                <a:latin typeface="+mj-lt"/>
              </a:rPr>
              <a:t>status_published</a:t>
            </a:r>
            <a:r>
              <a:rPr lang="en-US" sz="2400" b="0" i="0" dirty="0">
                <a:effectLst/>
                <a:latin typeface="+mj-lt"/>
              </a:rPr>
              <a:t> affect </a:t>
            </a:r>
            <a:r>
              <a:rPr lang="en-US" sz="2400" b="0" i="0" dirty="0" err="1">
                <a:effectLst/>
                <a:latin typeface="+mj-lt"/>
              </a:rPr>
              <a:t>num_reactions</a:t>
            </a:r>
            <a:r>
              <a:rPr lang="en-US" sz="2400" b="0" i="0" dirty="0">
                <a:effectLst/>
                <a:latin typeface="+mj-lt"/>
              </a:rPr>
              <a:t>?</a:t>
            </a:r>
          </a:p>
          <a:p>
            <a:r>
              <a:rPr lang="en-US" sz="2400" b="1" i="0" dirty="0">
                <a:effectLst/>
                <a:latin typeface="+mj-lt"/>
              </a:rPr>
              <a:t>Analysis:</a:t>
            </a:r>
            <a:r>
              <a:rPr lang="en-US" sz="2400" b="0" i="0" dirty="0">
                <a:effectLst/>
                <a:latin typeface="+mj-lt"/>
              </a:rPr>
              <a:t> Explore temporal patterns to identify optimal posting times for maximizing engagement.</a:t>
            </a:r>
          </a:p>
          <a:p>
            <a:r>
              <a:rPr lang="en-US" sz="2400" b="1" i="0" dirty="0">
                <a:effectLst/>
                <a:latin typeface="+mj-lt"/>
              </a:rPr>
              <a:t>Insights:</a:t>
            </a:r>
            <a:r>
              <a:rPr lang="en-US" sz="2400" b="0" i="0" dirty="0">
                <a:effectLst/>
                <a:latin typeface="+mj-lt"/>
              </a:rPr>
              <a:t> Visualize trends and correlations between post timing and engagement levels.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4896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22F56-1323-8712-E6DB-96B07FB58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Engagement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88A08-C814-C6CF-95E6-3FF195FDB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i="0" dirty="0">
                <a:effectLst/>
                <a:latin typeface="+mj-lt"/>
              </a:rPr>
              <a:t>Question:</a:t>
            </a:r>
            <a:r>
              <a:rPr lang="en-US" sz="2400" b="0" i="0" dirty="0">
                <a:effectLst/>
                <a:latin typeface="+mj-lt"/>
              </a:rPr>
              <a:t> Is there a correlation between </a:t>
            </a:r>
            <a:r>
              <a:rPr lang="en-US" sz="2400" b="0" i="0" dirty="0" err="1">
                <a:effectLst/>
                <a:latin typeface="+mj-lt"/>
              </a:rPr>
              <a:t>num_reactions</a:t>
            </a:r>
            <a:r>
              <a:rPr lang="en-US" sz="2400" b="0" i="0" dirty="0">
                <a:effectLst/>
                <a:latin typeface="+mj-lt"/>
              </a:rPr>
              <a:t>, </a:t>
            </a:r>
            <a:r>
              <a:rPr lang="en-US" sz="2400" b="0" i="0" dirty="0" err="1">
                <a:effectLst/>
                <a:latin typeface="+mj-lt"/>
              </a:rPr>
              <a:t>num_comments</a:t>
            </a:r>
            <a:r>
              <a:rPr lang="en-US" sz="2400" b="0" i="0" dirty="0">
                <a:effectLst/>
                <a:latin typeface="+mj-lt"/>
              </a:rPr>
              <a:t>, and </a:t>
            </a:r>
            <a:r>
              <a:rPr lang="en-US" sz="2400" b="0" i="0" dirty="0" err="1">
                <a:effectLst/>
                <a:latin typeface="+mj-lt"/>
              </a:rPr>
              <a:t>num_shares</a:t>
            </a:r>
            <a:r>
              <a:rPr lang="en-US" sz="2400" b="0" i="0" dirty="0">
                <a:effectLst/>
                <a:latin typeface="+mj-lt"/>
              </a:rPr>
              <a:t>?</a:t>
            </a:r>
          </a:p>
          <a:p>
            <a:r>
              <a:rPr lang="en-US" sz="2400" b="1" i="0" dirty="0">
                <a:effectLst/>
                <a:latin typeface="+mj-lt"/>
              </a:rPr>
              <a:t>Analysis:</a:t>
            </a:r>
            <a:r>
              <a:rPr lang="en-US" sz="2400" b="0" i="0" dirty="0">
                <a:effectLst/>
                <a:latin typeface="+mj-lt"/>
              </a:rPr>
              <a:t> Assess relationships among key engagement metrics to understand user interaction patterns.</a:t>
            </a:r>
          </a:p>
          <a:p>
            <a:r>
              <a:rPr lang="en-US" sz="2400" b="1" i="0" dirty="0">
                <a:effectLst/>
                <a:latin typeface="+mj-lt"/>
              </a:rPr>
              <a:t>Findings:</a:t>
            </a:r>
            <a:r>
              <a:rPr lang="en-US" sz="2400" b="0" i="0" dirty="0">
                <a:effectLst/>
                <a:latin typeface="+mj-lt"/>
              </a:rPr>
              <a:t> Determine strengths and directions of correlations using statistical measures.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2308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6D082-2C3D-871E-2101-F62AA7BDA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K-Means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8654B-1453-080A-2D28-E8EE2DE0B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i="0" dirty="0">
                <a:effectLst/>
                <a:latin typeface="+mj-lt"/>
              </a:rPr>
              <a:t>Question:</a:t>
            </a:r>
            <a:r>
              <a:rPr lang="en-US" sz="2400" b="0" i="0" dirty="0">
                <a:effectLst/>
                <a:latin typeface="+mj-lt"/>
              </a:rPr>
              <a:t> How can we cluster status posts based on engagement metrics?</a:t>
            </a:r>
          </a:p>
          <a:p>
            <a:r>
              <a:rPr lang="en-US" sz="2400" b="1" i="0" dirty="0">
                <a:effectLst/>
                <a:latin typeface="+mj-lt"/>
              </a:rPr>
              <a:t>Methodology:</a:t>
            </a:r>
            <a:r>
              <a:rPr lang="en-US" sz="2400" b="0" i="0" dirty="0">
                <a:effectLst/>
                <a:latin typeface="+mj-lt"/>
              </a:rPr>
              <a:t> Apply K-Means clustering using </a:t>
            </a:r>
            <a:r>
              <a:rPr lang="en-US" sz="2400" b="0" i="0" dirty="0" err="1">
                <a:effectLst/>
                <a:latin typeface="+mj-lt"/>
              </a:rPr>
              <a:t>status_type</a:t>
            </a:r>
            <a:r>
              <a:rPr lang="en-US" sz="2400" b="0" i="0" dirty="0">
                <a:effectLst/>
                <a:latin typeface="+mj-lt"/>
              </a:rPr>
              <a:t>, </a:t>
            </a:r>
            <a:r>
              <a:rPr lang="en-US" sz="2400" b="0" i="0" dirty="0" err="1">
                <a:effectLst/>
                <a:latin typeface="+mj-lt"/>
              </a:rPr>
              <a:t>num_reactions</a:t>
            </a:r>
            <a:r>
              <a:rPr lang="en-US" sz="2400" b="0" i="0" dirty="0">
                <a:effectLst/>
                <a:latin typeface="+mj-lt"/>
              </a:rPr>
              <a:t>, </a:t>
            </a:r>
            <a:r>
              <a:rPr lang="en-US" sz="2400" b="0" i="0" dirty="0" err="1">
                <a:effectLst/>
                <a:latin typeface="+mj-lt"/>
              </a:rPr>
              <a:t>num_comments</a:t>
            </a:r>
            <a:r>
              <a:rPr lang="en-US" sz="2400" b="0" i="0" dirty="0">
                <a:effectLst/>
                <a:latin typeface="+mj-lt"/>
              </a:rPr>
              <a:t>, etc.</a:t>
            </a:r>
          </a:p>
          <a:p>
            <a:r>
              <a:rPr lang="en-US" sz="2400" b="1" i="0" dirty="0">
                <a:effectLst/>
                <a:latin typeface="+mj-lt"/>
              </a:rPr>
              <a:t>Results:</a:t>
            </a:r>
            <a:r>
              <a:rPr lang="en-US" sz="2400" b="0" i="0" dirty="0">
                <a:effectLst/>
                <a:latin typeface="+mj-lt"/>
              </a:rPr>
              <a:t> Identify clusters of posts with similar engagement profiles for targeted content strategies.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0020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A0E09-D934-2B75-23F5-F56D118C4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Optimal Clusters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15261-390A-6A58-1570-ACBE05F27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i="0" dirty="0">
                <a:effectLst/>
                <a:latin typeface="+mj-lt"/>
              </a:rPr>
              <a:t>Question:</a:t>
            </a:r>
            <a:r>
              <a:rPr lang="en-US" sz="2400" b="0" i="0" dirty="0">
                <a:effectLst/>
                <a:latin typeface="+mj-lt"/>
              </a:rPr>
              <a:t> What is the optimal number of clusters using the elbow method?</a:t>
            </a:r>
          </a:p>
          <a:p>
            <a:r>
              <a:rPr lang="en-US" sz="2400" b="1" i="0" dirty="0">
                <a:effectLst/>
                <a:latin typeface="+mj-lt"/>
              </a:rPr>
              <a:t>Methodology:</a:t>
            </a:r>
            <a:r>
              <a:rPr lang="en-US" sz="2400" b="0" i="0" dirty="0">
                <a:effectLst/>
                <a:latin typeface="+mj-lt"/>
              </a:rPr>
              <a:t> Use the elbow method to determine the best clustering solution based on inertia.</a:t>
            </a:r>
          </a:p>
          <a:p>
            <a:r>
              <a:rPr lang="en-US" sz="2400" b="1" i="0" dirty="0">
                <a:effectLst/>
                <a:latin typeface="+mj-lt"/>
              </a:rPr>
              <a:t>Insights:</a:t>
            </a:r>
            <a:r>
              <a:rPr lang="en-US" sz="2400" b="0" i="0" dirty="0">
                <a:effectLst/>
                <a:latin typeface="+mj-lt"/>
              </a:rPr>
              <a:t> Visualize elbow plot and interpret optimal cluster count for segmentation.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4807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D81E-428B-889B-DFE6-44338AE12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Post Types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23C08-402B-2691-AD2A-2BA488B76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i="0" dirty="0">
                <a:effectLst/>
                <a:latin typeface="+mj-lt"/>
              </a:rPr>
              <a:t>Question:</a:t>
            </a:r>
            <a:r>
              <a:rPr lang="en-US" sz="2400" b="0" i="0" dirty="0">
                <a:effectLst/>
                <a:latin typeface="+mj-lt"/>
              </a:rPr>
              <a:t> What are the counts of different </a:t>
            </a:r>
            <a:r>
              <a:rPr lang="en-US" sz="2400" b="0" i="0" dirty="0" err="1">
                <a:effectLst/>
                <a:latin typeface="+mj-lt"/>
              </a:rPr>
              <a:t>status_type</a:t>
            </a:r>
            <a:r>
              <a:rPr lang="en-US" sz="2400" b="0" i="0" dirty="0">
                <a:effectLst/>
                <a:latin typeface="+mj-lt"/>
              </a:rPr>
              <a:t> posts in the dataset?</a:t>
            </a:r>
          </a:p>
          <a:p>
            <a:r>
              <a:rPr lang="en-US" sz="2400" b="1" i="0" dirty="0">
                <a:effectLst/>
                <a:latin typeface="+mj-lt"/>
              </a:rPr>
              <a:t>Analysis:</a:t>
            </a:r>
            <a:r>
              <a:rPr lang="en-US" sz="2400" b="0" i="0" dirty="0">
                <a:effectLst/>
                <a:latin typeface="+mj-lt"/>
              </a:rPr>
              <a:t> Present distribution of post types (e.g., video, photo) to understand content diversity.</a:t>
            </a:r>
          </a:p>
          <a:p>
            <a:r>
              <a:rPr lang="en-US" sz="2400" b="1" i="0" dirty="0">
                <a:effectLst/>
                <a:latin typeface="+mj-lt"/>
              </a:rPr>
              <a:t>Implications:</a:t>
            </a:r>
            <a:r>
              <a:rPr lang="en-US" sz="2400" b="0" i="0" dirty="0">
                <a:effectLst/>
                <a:latin typeface="+mj-lt"/>
              </a:rPr>
              <a:t> Identify popular post types for engagement and content strategy refinement.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3535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0B68-1CA1-DAE0-2CEE-744FF7236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Average Engagement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B552C-2E18-F103-E417-DCFE72771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i="0" dirty="0">
                <a:effectLst/>
                <a:latin typeface="+mj-lt"/>
              </a:rPr>
              <a:t>Question:</a:t>
            </a:r>
            <a:r>
              <a:rPr lang="en-US" sz="2400" b="0" i="0" dirty="0">
                <a:effectLst/>
                <a:latin typeface="+mj-lt"/>
              </a:rPr>
              <a:t> </a:t>
            </a:r>
          </a:p>
          <a:p>
            <a:pPr marL="0" indent="0">
              <a:buNone/>
            </a:pPr>
            <a:r>
              <a:rPr lang="en-US" sz="2400" b="0" i="0" dirty="0">
                <a:effectLst/>
                <a:latin typeface="+mj-lt"/>
              </a:rPr>
              <a:t>What are the average values of </a:t>
            </a:r>
            <a:r>
              <a:rPr lang="en-US" sz="2400" b="0" i="0" dirty="0" err="1">
                <a:effectLst/>
                <a:latin typeface="+mj-lt"/>
              </a:rPr>
              <a:t>num_reactions</a:t>
            </a:r>
            <a:r>
              <a:rPr lang="en-US" sz="2400" b="0" i="0" dirty="0">
                <a:effectLst/>
                <a:latin typeface="+mj-lt"/>
              </a:rPr>
              <a:t>, </a:t>
            </a:r>
            <a:r>
              <a:rPr lang="en-US" sz="2400" b="0" i="0" dirty="0" err="1">
                <a:effectLst/>
                <a:latin typeface="+mj-lt"/>
              </a:rPr>
              <a:t>num_comments</a:t>
            </a:r>
            <a:r>
              <a:rPr lang="en-US" sz="2400" b="0" i="0" dirty="0">
                <a:effectLst/>
                <a:latin typeface="+mj-lt"/>
              </a:rPr>
              <a:t>, </a:t>
            </a:r>
            <a:r>
              <a:rPr lang="en-US" sz="2400" b="0" i="0" dirty="0" err="1">
                <a:effectLst/>
                <a:latin typeface="+mj-lt"/>
              </a:rPr>
              <a:t>num_shares</a:t>
            </a:r>
            <a:r>
              <a:rPr lang="en-US" sz="2400" b="0" i="0" dirty="0">
                <a:effectLst/>
                <a:latin typeface="+mj-lt"/>
              </a:rPr>
              <a:t> for each </a:t>
            </a:r>
            <a:r>
              <a:rPr lang="en-US" sz="2400" b="0" i="0" dirty="0" err="1">
                <a:effectLst/>
                <a:latin typeface="+mj-lt"/>
              </a:rPr>
              <a:t>status_type</a:t>
            </a:r>
            <a:r>
              <a:rPr lang="en-US" sz="2400" b="0" i="0" dirty="0">
                <a:effectLst/>
                <a:latin typeface="+mj-lt"/>
              </a:rPr>
              <a:t>?</a:t>
            </a:r>
          </a:p>
          <a:p>
            <a:r>
              <a:rPr lang="en-US" sz="2400" b="1" i="0" dirty="0">
                <a:effectLst/>
                <a:latin typeface="+mj-lt"/>
              </a:rPr>
              <a:t>Analysis:</a:t>
            </a:r>
            <a:r>
              <a:rPr lang="en-US" sz="2400" b="0" i="0" dirty="0">
                <a:effectLst/>
                <a:latin typeface="+mj-lt"/>
              </a:rPr>
              <a:t> </a:t>
            </a:r>
          </a:p>
          <a:p>
            <a:pPr marL="0" indent="0">
              <a:buNone/>
            </a:pPr>
            <a:r>
              <a:rPr lang="en-US" sz="2400" b="0" i="0" dirty="0">
                <a:effectLst/>
                <a:latin typeface="+mj-lt"/>
              </a:rPr>
              <a:t>Calculate and compare average engagement metrics across different post types.</a:t>
            </a:r>
          </a:p>
          <a:p>
            <a:r>
              <a:rPr lang="en-US" sz="2400" b="1" i="0" dirty="0">
                <a:effectLst/>
                <a:latin typeface="+mj-lt"/>
              </a:rPr>
              <a:t>Recommendations:</a:t>
            </a:r>
            <a:r>
              <a:rPr lang="en-US" sz="2400" b="0" i="0" dirty="0">
                <a:effectLst/>
                <a:latin typeface="+mj-lt"/>
              </a:rPr>
              <a:t> </a:t>
            </a:r>
          </a:p>
          <a:p>
            <a:pPr marL="0" indent="0">
              <a:buNone/>
            </a:pPr>
            <a:r>
              <a:rPr lang="en-US" sz="2400" b="0" i="0" dirty="0">
                <a:effectLst/>
                <a:latin typeface="+mj-lt"/>
              </a:rPr>
              <a:t>Insights for optimizing engagement based on post type characteristics.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0231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21C77-C79B-DFE3-036D-9034075AE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Time-Series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D584F-A597-D346-0DF0-B4FB84CB4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i="0" dirty="0">
                <a:effectLst/>
                <a:latin typeface="+mj-lt"/>
              </a:rPr>
              <a:t>Question:</a:t>
            </a:r>
            <a:r>
              <a:rPr lang="en-US" sz="2400" b="0" i="0" dirty="0">
                <a:effectLst/>
                <a:latin typeface="+mj-lt"/>
              </a:rPr>
              <a:t> How have engagement metrics evolved over time?</a:t>
            </a:r>
          </a:p>
          <a:p>
            <a:r>
              <a:rPr lang="en-US" sz="2400" b="1" i="0" dirty="0">
                <a:effectLst/>
                <a:latin typeface="+mj-lt"/>
              </a:rPr>
              <a:t>Methodology:</a:t>
            </a:r>
            <a:r>
              <a:rPr lang="en-US" sz="2400" b="0" i="0" dirty="0">
                <a:effectLst/>
                <a:latin typeface="+mj-lt"/>
              </a:rPr>
              <a:t> Conduct time-series analysis on </a:t>
            </a:r>
            <a:r>
              <a:rPr lang="en-US" sz="2400" b="0" i="0" dirty="0" err="1">
                <a:effectLst/>
                <a:latin typeface="+mj-lt"/>
              </a:rPr>
              <a:t>num_reactions</a:t>
            </a:r>
            <a:r>
              <a:rPr lang="en-US" sz="2400" b="0" i="0" dirty="0">
                <a:effectLst/>
                <a:latin typeface="+mj-lt"/>
              </a:rPr>
              <a:t>, </a:t>
            </a:r>
            <a:r>
              <a:rPr lang="en-US" sz="2400" b="0" i="0" dirty="0" err="1">
                <a:effectLst/>
                <a:latin typeface="+mj-lt"/>
              </a:rPr>
              <a:t>num_comments</a:t>
            </a:r>
            <a:r>
              <a:rPr lang="en-US" sz="2400" b="0" i="0" dirty="0">
                <a:effectLst/>
                <a:latin typeface="+mj-lt"/>
              </a:rPr>
              <a:t>, and </a:t>
            </a:r>
            <a:r>
              <a:rPr lang="en-US" sz="2400" b="0" i="0" dirty="0" err="1">
                <a:effectLst/>
                <a:latin typeface="+mj-lt"/>
              </a:rPr>
              <a:t>num_shares</a:t>
            </a:r>
            <a:r>
              <a:rPr lang="en-US" sz="2400" b="0" i="0" dirty="0">
                <a:effectLst/>
                <a:latin typeface="+mj-lt"/>
              </a:rPr>
              <a:t>.</a:t>
            </a:r>
          </a:p>
          <a:p>
            <a:r>
              <a:rPr lang="en-US" sz="2400" b="1" i="0" dirty="0">
                <a:effectLst/>
                <a:latin typeface="+mj-lt"/>
              </a:rPr>
              <a:t>Trends:</a:t>
            </a:r>
            <a:r>
              <a:rPr lang="en-US" sz="2400" b="0" i="0" dirty="0">
                <a:effectLst/>
                <a:latin typeface="+mj-lt"/>
              </a:rPr>
              <a:t> Identify trends, seasonality, and long-term patterns in user engagement.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4867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D791E-F3E4-3440-0903-25B95B415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Sentiment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E133C-7C7F-5FF4-A10C-003E12480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i="0" dirty="0">
                <a:effectLst/>
                <a:latin typeface="+mj-lt"/>
              </a:rPr>
              <a:t>Question:</a:t>
            </a:r>
            <a:r>
              <a:rPr lang="en-US" sz="2400" b="0" i="0" dirty="0">
                <a:effectLst/>
                <a:latin typeface="+mj-lt"/>
              </a:rPr>
              <a:t> Can sentiment analysis be applied to </a:t>
            </a:r>
            <a:r>
              <a:rPr lang="en-US" sz="2400" b="0" i="0" dirty="0" err="1">
                <a:effectLst/>
                <a:latin typeface="+mj-lt"/>
              </a:rPr>
              <a:t>num_reactions</a:t>
            </a:r>
            <a:r>
              <a:rPr lang="en-US" sz="2400" b="0" i="0" dirty="0">
                <a:effectLst/>
                <a:latin typeface="+mj-lt"/>
              </a:rPr>
              <a:t>?</a:t>
            </a:r>
          </a:p>
          <a:p>
            <a:r>
              <a:rPr lang="en-US" sz="2400" b="1" i="0" dirty="0">
                <a:effectLst/>
                <a:latin typeface="+mj-lt"/>
              </a:rPr>
              <a:t>Approach:</a:t>
            </a:r>
            <a:r>
              <a:rPr lang="en-US" sz="2400" b="0" i="0" dirty="0">
                <a:effectLst/>
                <a:latin typeface="+mj-lt"/>
              </a:rPr>
              <a:t> Apply sentiment analysis techniques to understand emotional responses reflected in reactions.</a:t>
            </a:r>
          </a:p>
          <a:p>
            <a:r>
              <a:rPr lang="en-US" sz="2400" b="1" i="0" dirty="0">
                <a:effectLst/>
                <a:latin typeface="+mj-lt"/>
              </a:rPr>
              <a:t>Insights:</a:t>
            </a:r>
            <a:r>
              <a:rPr lang="en-US" sz="2400" b="0" i="0" dirty="0">
                <a:effectLst/>
                <a:latin typeface="+mj-lt"/>
              </a:rPr>
              <a:t> Explore implications for sentiment-driven content strategies.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5908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64CD5-D790-166B-8F73-69DF84C93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Predictive </a:t>
            </a:r>
            <a:r>
              <a:rPr lang="en-IN" dirty="0" err="1"/>
              <a:t>Modeling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5EF3E-1B4C-3C22-DF28-D9F437807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i="0" dirty="0">
                <a:effectLst/>
                <a:latin typeface="+mj-lt"/>
              </a:rPr>
              <a:t>Question:</a:t>
            </a:r>
            <a:r>
              <a:rPr lang="en-US" sz="2400" b="0" i="0" dirty="0">
                <a:effectLst/>
                <a:latin typeface="+mj-lt"/>
              </a:rPr>
              <a:t> How can we predict </a:t>
            </a:r>
            <a:r>
              <a:rPr lang="en-US" sz="2400" b="0" i="0" dirty="0" err="1">
                <a:effectLst/>
                <a:latin typeface="+mj-lt"/>
              </a:rPr>
              <a:t>num_reactions</a:t>
            </a:r>
            <a:r>
              <a:rPr lang="en-US" sz="2400" b="0" i="0" dirty="0">
                <a:effectLst/>
                <a:latin typeface="+mj-lt"/>
              </a:rPr>
              <a:t> based on other attributes?</a:t>
            </a:r>
          </a:p>
          <a:p>
            <a:r>
              <a:rPr lang="en-US" sz="2400" b="1" i="0" dirty="0">
                <a:effectLst/>
                <a:latin typeface="+mj-lt"/>
              </a:rPr>
              <a:t>Methodology:</a:t>
            </a:r>
            <a:r>
              <a:rPr lang="en-US" sz="2400" b="0" i="0" dirty="0">
                <a:effectLst/>
                <a:latin typeface="+mj-lt"/>
              </a:rPr>
              <a:t> Build predictive models (e.g., regression) to forecast engagement metrics.</a:t>
            </a:r>
          </a:p>
          <a:p>
            <a:r>
              <a:rPr lang="en-US" sz="2400" b="1" i="0" dirty="0">
                <a:effectLst/>
                <a:latin typeface="+mj-lt"/>
              </a:rPr>
              <a:t>Validation:</a:t>
            </a:r>
            <a:r>
              <a:rPr lang="en-US" sz="2400" b="0" i="0" dirty="0">
                <a:effectLst/>
                <a:latin typeface="+mj-lt"/>
              </a:rPr>
              <a:t> Evaluate model accuracy and performance metrics for robust predictions.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1781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C6C5F-E737-BC90-B443-03E39F937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28CED-51A7-6495-837D-EDFE28C7B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i="0" dirty="0">
                <a:effectLst/>
                <a:latin typeface="+mj-lt"/>
              </a:rPr>
              <a:t>Summary:</a:t>
            </a:r>
            <a:r>
              <a:rPr lang="en-US" sz="2400" b="0" i="0" dirty="0">
                <a:effectLst/>
                <a:latin typeface="+mj-lt"/>
              </a:rPr>
              <a:t> Recap key findings and insights from the Facebook Marketplace Dataset analysis.</a:t>
            </a:r>
          </a:p>
          <a:p>
            <a:r>
              <a:rPr lang="en-US" sz="2400" b="1" i="0" dirty="0">
                <a:effectLst/>
                <a:latin typeface="+mj-lt"/>
              </a:rPr>
              <a:t>Implications:</a:t>
            </a:r>
            <a:r>
              <a:rPr lang="en-US" sz="2400" b="0" i="0" dirty="0">
                <a:effectLst/>
                <a:latin typeface="+mj-lt"/>
              </a:rPr>
              <a:t> Recommendations for optimizing content strategy, maximizing engagement, and future research directions.</a:t>
            </a:r>
          </a:p>
          <a:p>
            <a:r>
              <a:rPr lang="en-US" sz="2400" b="1" i="0" dirty="0">
                <a:effectLst/>
                <a:latin typeface="+mj-lt"/>
              </a:rPr>
              <a:t>Call to Action:</a:t>
            </a:r>
            <a:r>
              <a:rPr lang="en-US" sz="2400" b="0" i="0" dirty="0">
                <a:effectLst/>
                <a:latin typeface="+mj-lt"/>
              </a:rPr>
              <a:t> Implement insights to enhance social media marketing effectiveness and drive business outcomes.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9644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520</Words>
  <Application>Microsoft Office PowerPoint</Application>
  <PresentationFormat>Widescreen</PresentationFormat>
  <Paragraphs>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Facebook Marketplace Dataset</vt:lpstr>
      <vt:lpstr>Dataset Overview</vt:lpstr>
      <vt:lpstr>Time Analysis</vt:lpstr>
      <vt:lpstr>Engagement Metrics</vt:lpstr>
      <vt:lpstr>K-Means Clustering</vt:lpstr>
      <vt:lpstr>Optimal Clusters</vt:lpstr>
      <vt:lpstr>Post Types Distribution</vt:lpstr>
      <vt:lpstr>Average Engagement</vt:lpstr>
      <vt:lpstr>Time-Series Analysis</vt:lpstr>
      <vt:lpstr>Sentiment Analysis</vt:lpstr>
      <vt:lpstr>Predictive Modeling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Taksheel Rawat</dc:creator>
  <cp:lastModifiedBy>Taksheel Rawat</cp:lastModifiedBy>
  <cp:revision>1</cp:revision>
  <dcterms:created xsi:type="dcterms:W3CDTF">2025-02-02T16:45:37Z</dcterms:created>
  <dcterms:modified xsi:type="dcterms:W3CDTF">2025-02-02T16:45:45Z</dcterms:modified>
</cp:coreProperties>
</file>